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個人課表維護系統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Django 期中專題報告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課程名稱：【請填寫課程名稱】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組員：【請填寫組員姓名】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指導教師：【請填寫教師姓名】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專題背景與動機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專題背景</a:t>
            </a:r>
          </a:p>
          <a:p>
            <a:pPr>
              <a:spcBef>
                <a:spcPts val="400"/>
              </a:spcBef>
              <a:defRPr sz="1800"/>
            </a:pPr>
            <a:r>
              <a:t>  • 開發適合大學生使用的課表維護系統</a:t>
            </a:r>
          </a:p>
          <a:p>
            <a:pPr>
              <a:spcBef>
                <a:spcPts val="400"/>
              </a:spcBef>
              <a:defRPr sz="1800"/>
            </a:pPr>
            <a:r>
              <a:t>  • 管理選課、退選及課程安排</a:t>
            </a:r>
          </a:p>
          <a:p>
            <a:pPr>
              <a:spcBef>
                <a:spcPts val="400"/>
              </a:spcBef>
              <a:defRPr sz="1800"/>
            </a:pPr>
            <a:r>
              <a:t>  • 特別注重選課規則與名額管理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開發動機</a:t>
            </a:r>
          </a:p>
          <a:p>
            <a:pPr>
              <a:spcBef>
                <a:spcPts val="400"/>
              </a:spcBef>
              <a:defRPr sz="1800"/>
            </a:pPr>
            <a:r>
              <a:t>  • 實作完整的選課流程與規則檢查</a:t>
            </a:r>
          </a:p>
          <a:p>
            <a:pPr>
              <a:spcBef>
                <a:spcPts val="400"/>
              </a:spcBef>
              <a:defRPr sz="1800"/>
            </a:pPr>
            <a:r>
              <a:t>  • 處理課程時間衝突問題</a:t>
            </a:r>
          </a:p>
          <a:p>
            <a:pPr>
              <a:spcBef>
                <a:spcPts val="400"/>
              </a:spcBef>
              <a:defRPr sz="1800"/>
            </a:pPr>
            <a:r>
              <a:t>  • 確保課程名額管理的正確性</a:t>
            </a:r>
          </a:p>
          <a:p>
            <a:pPr>
              <a:spcBef>
                <a:spcPts val="400"/>
              </a:spcBef>
              <a:defRPr sz="1800"/>
            </a:pPr>
            <a:r>
              <a:t>  • 提供清楚的課表視覺化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專題特色</a:t>
            </a:r>
          </a:p>
          <a:p>
            <a:pPr>
              <a:spcBef>
                <a:spcPts val="400"/>
              </a:spcBef>
              <a:defRPr sz="1800"/>
            </a:pPr>
            <a:r>
              <a:t>  • 不使用任何資料庫（SQLite、MySQL、PostgreSQL）</a:t>
            </a:r>
          </a:p>
          <a:p>
            <a:pPr>
              <a:spcBef>
                <a:spcPts val="400"/>
              </a:spcBef>
              <a:defRPr sz="1800"/>
            </a:pPr>
            <a:r>
              <a:t>  • 採用記憶體儲存，符合特殊需求</a:t>
            </a:r>
          </a:p>
          <a:p>
            <a:pPr>
              <a:spcBef>
                <a:spcPts val="400"/>
              </a:spcBef>
              <a:defRPr sz="1800"/>
            </a:pPr>
            <a:r>
              <a:t>  • 完整實作選課業務邏輯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系統目標與功能需求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系統目標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課程瀏覽與搜尋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選課與退選管理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課程衝突檢查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名額管理與占用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每週課表視覺化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學分統計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核心功能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課程清單與搜尋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個人課表維護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時間衝突檢查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名額正確管理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選課合理性驗證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繁體中文介面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使用技術及選用原因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後端技術</a:t>
            </a:r>
          </a:p>
          <a:p>
            <a:pPr>
              <a:spcBef>
                <a:spcPts val="400"/>
              </a:spcBef>
              <a:defRPr sz="1800"/>
            </a:pPr>
            <a:r>
              <a:t>  • Django 6.1.2 - 成熟的 Python Web 框架</a:t>
            </a:r>
          </a:p>
          <a:p>
            <a:pPr>
              <a:spcBef>
                <a:spcPts val="400"/>
              </a:spcBef>
              <a:defRPr sz="1800"/>
            </a:pPr>
            <a:r>
              <a:t>  • Python 3.12 - 最新穩定版本</a:t>
            </a:r>
          </a:p>
          <a:p>
            <a:pPr>
              <a:spcBef>
                <a:spcPts val="400"/>
              </a:spcBef>
              <a:defRPr sz="1800"/>
            </a:pPr>
            <a:r>
              <a:t>  • python-decouple - 環境變數管理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前端技術</a:t>
            </a:r>
          </a:p>
          <a:p>
            <a:pPr>
              <a:spcBef>
                <a:spcPts val="400"/>
              </a:spcBef>
              <a:defRPr sz="1800"/>
            </a:pPr>
            <a:r>
              <a:t>  • Django Templates - 伺服器端渲染</a:t>
            </a:r>
          </a:p>
          <a:p>
            <a:pPr>
              <a:spcBef>
                <a:spcPts val="400"/>
              </a:spcBef>
              <a:defRPr sz="1800"/>
            </a:pPr>
            <a:r>
              <a:t>  • 原生 CSS - 完全客製化樣式</a:t>
            </a:r>
          </a:p>
          <a:p>
            <a:pPr>
              <a:spcBef>
                <a:spcPts val="400"/>
              </a:spcBef>
              <a:defRPr sz="1800"/>
            </a:pPr>
            <a:r>
              <a:t>  • 原生 JavaScript - 輕量化互動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資料儲存</a:t>
            </a:r>
          </a:p>
          <a:p>
            <a:pPr>
              <a:spcBef>
                <a:spcPts val="400"/>
              </a:spcBef>
              <a:defRPr sz="1800"/>
            </a:pPr>
            <a:r>
              <a:t>  • 記憶體儲存 - Python 字典與集合</a:t>
            </a:r>
          </a:p>
          <a:p>
            <a:pPr>
              <a:spcBef>
                <a:spcPts val="400"/>
              </a:spcBef>
              <a:defRPr sz="1800"/>
            </a:pPr>
            <a:r>
              <a:t>  • 檔案式 Session - 使用者識別</a:t>
            </a:r>
          </a:p>
          <a:p>
            <a:pPr>
              <a:spcBef>
                <a:spcPts val="400"/>
              </a:spcBef>
              <a:defRPr sz="1800"/>
            </a:pPr>
            <a:r>
              <a:t>  • threading.Lock - 並發控制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系統架構圖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Django MTV 架構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Model（資料模型）</a:t>
            </a:r>
          </a:p>
          <a:p>
            <a:pPr>
              <a:spcAft>
                <a:spcPts val="800"/>
              </a:spcAft>
              <a:defRPr sz="1600"/>
            </a:pPr>
            <a:r>
              <a:t>  → Course 類別（課程資料）</a:t>
            </a:r>
          </a:p>
          <a:p>
            <a:pPr>
              <a:spcAft>
                <a:spcPts val="800"/>
              </a:spcAft>
              <a:defRPr sz="1600"/>
            </a:pPr>
            <a:r>
              <a:t>  → CourseDataStore 類別（記憶體儲存管理）</a:t>
            </a:r>
          </a:p>
          <a:p>
            <a:pPr>
              <a:spcAft>
                <a:spcPts val="800"/>
              </a:spcAft>
              <a:defRPr sz="1600"/>
            </a:pPr>
            <a:r>
              <a:t>  → 單例模式確保資料一致性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Template（模板）</a:t>
            </a:r>
          </a:p>
          <a:p>
            <a:pPr>
              <a:spcAft>
                <a:spcPts val="800"/>
              </a:spcAft>
              <a:defRPr sz="1600"/>
            </a:pPr>
            <a:r>
              <a:t>  → base.html、index.html、course_list.html</a:t>
            </a:r>
          </a:p>
          <a:p>
            <a:pPr>
              <a:spcAft>
                <a:spcPts val="800"/>
              </a:spcAft>
              <a:defRPr sz="1600"/>
            </a:pPr>
            <a:r>
              <a:t>  → course_detail.html、my_courses.html、system_info.html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View（視圖）</a:t>
            </a:r>
          </a:p>
          <a:p>
            <a:pPr>
              <a:spcAft>
                <a:spcPts val="800"/>
              </a:spcAft>
              <a:defRPr sz="1600"/>
            </a:pPr>
            <a:r>
              <a:t>  → index、course_list、course_detail、my_courses</a:t>
            </a:r>
          </a:p>
          <a:p>
            <a:pPr>
              <a:spcAft>
                <a:spcPts val="800"/>
              </a:spcAft>
              <a:defRPr sz="1600"/>
            </a:pPr>
            <a:r>
              <a:t>  → enroll_course、drop_course、system_info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URL Routing</a:t>
            </a:r>
          </a:p>
          <a:p>
            <a:pPr>
              <a:spcAft>
                <a:spcPts val="800"/>
              </a:spcAft>
              <a:defRPr sz="1600"/>
            </a:pPr>
            <a:r>
              <a:t>  → 專案層級：timetable_project/urls.py</a:t>
            </a:r>
          </a:p>
          <a:p>
            <a:pPr>
              <a:spcAft>
                <a:spcPts val="800"/>
              </a:spcAft>
              <a:defRPr sz="1600"/>
            </a:pPr>
            <a:r>
              <a:t>  → 應用程式層級：timetable/urls.py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系統主要功能與頁面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1. 首頁</a:t>
            </a:r>
          </a:p>
          <a:p>
            <a:pPr>
              <a:spcBef>
                <a:spcPts val="400"/>
              </a:spcBef>
              <a:defRPr sz="1800"/>
            </a:pPr>
            <a:r>
              <a:t>  • 每週課表視覺化顯示</a:t>
            </a:r>
          </a:p>
          <a:p>
            <a:pPr>
              <a:spcBef>
                <a:spcPts val="400"/>
              </a:spcBef>
              <a:defRPr sz="1800"/>
            </a:pPr>
            <a:r>
              <a:t>  • 已選學分與課程數統計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2. 課程清單</a:t>
            </a:r>
          </a:p>
          <a:p>
            <a:pPr>
              <a:spcBef>
                <a:spcPts val="400"/>
              </a:spcBef>
              <a:defRPr sz="1800"/>
            </a:pPr>
            <a:r>
              <a:t>  • 瀏覽所有課程（24 門示範課程）</a:t>
            </a:r>
          </a:p>
          <a:p>
            <a:pPr>
              <a:spcBef>
                <a:spcPts val="400"/>
              </a:spcBef>
              <a:defRPr sz="1800"/>
            </a:pPr>
            <a:r>
              <a:t>  • 關鍵字搜尋與篩選</a:t>
            </a:r>
          </a:p>
          <a:p>
            <a:pPr>
              <a:spcBef>
                <a:spcPts val="400"/>
              </a:spcBef>
              <a:defRPr sz="1800"/>
            </a:pPr>
            <a:r>
              <a:t>  • 即時顯示名額狀態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3. 我的課表</a:t>
            </a:r>
          </a:p>
          <a:p>
            <a:pPr>
              <a:spcBef>
                <a:spcPts val="400"/>
              </a:spcBef>
              <a:defRPr sz="1800"/>
            </a:pPr>
            <a:r>
              <a:t>  • 查看已選課程詳細資訊</a:t>
            </a:r>
          </a:p>
          <a:p>
            <a:pPr>
              <a:spcBef>
                <a:spcPts val="400"/>
              </a:spcBef>
              <a:defRPr sz="1800"/>
            </a:pPr>
            <a:r>
              <a:t>  • 退選課程功能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4. 課程詳情</a:t>
            </a:r>
          </a:p>
          <a:p>
            <a:pPr>
              <a:spcBef>
                <a:spcPts val="400"/>
              </a:spcBef>
              <a:defRPr sz="1800"/>
            </a:pPr>
            <a:r>
              <a:t>  • 完整課程資訊</a:t>
            </a:r>
          </a:p>
          <a:p>
            <a:pPr>
              <a:spcBef>
                <a:spcPts val="400"/>
              </a:spcBef>
              <a:defRPr sz="1800"/>
            </a:pPr>
            <a:r>
              <a:t>  • 選課/退選操作</a:t>
            </a:r>
          </a:p>
          <a:p>
            <a:pPr>
              <a:spcBef>
                <a:spcPts val="400"/>
              </a:spcBef>
              <a:defRPr sz="1800"/>
            </a:pPr>
            <a:r>
              <a:t>  • 衝突與名額狀態提示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選課與退選流程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選課流程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使用者點擊選課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檢查課程是否存在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檢查是否已選過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檢查是否額滿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5. 檢查是否時間衝突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6. 加鎖並更新資料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7. 返回成功訊息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退選流程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使用者點擊退選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檢查課程是否存在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檢查是否已選過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加鎖並移除選課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5. 減少已選人數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6. 釋放名額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7. 返回成功訊息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課程衝突檢查與名額管理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課程衝突檢查</a:t>
            </a:r>
          </a:p>
          <a:p>
            <a:pPr>
              <a:spcBef>
                <a:spcPts val="400"/>
              </a:spcBef>
              <a:defRPr sz="1800"/>
            </a:pPr>
            <a:r>
              <a:t>  • 同一星期檢查：只有同一天的課程可能衝突</a:t>
            </a:r>
          </a:p>
          <a:p>
            <a:pPr>
              <a:spcBef>
                <a:spcPts val="400"/>
              </a:spcBef>
              <a:defRPr sz="1800"/>
            </a:pPr>
            <a:r>
              <a:t>  • 節次重疊檢查：使用區間重疊演算法</a:t>
            </a:r>
          </a:p>
          <a:p>
            <a:pPr>
              <a:spcBef>
                <a:spcPts val="400"/>
              </a:spcBef>
              <a:defRPr sz="1800"/>
            </a:pPr>
            <a:r>
              <a:t>  • 不重疊條件：end1 &lt; start2 或 end2 &lt; start1</a:t>
            </a:r>
          </a:p>
          <a:p>
            <a:pPr>
              <a:spcBef>
                <a:spcPts val="400"/>
              </a:spcBef>
              <a:defRPr sz="1800"/>
            </a:pPr>
            <a:r>
              <a:t>  • 拒絕衝突選課並明確提示原因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名額管理機制</a:t>
            </a:r>
          </a:p>
          <a:p>
            <a:pPr>
              <a:spcBef>
                <a:spcPts val="400"/>
              </a:spcBef>
              <a:defRPr sz="1800"/>
            </a:pPr>
            <a:r>
              <a:t>  • 單例模式：所有使用者共用同一份課程資料</a:t>
            </a:r>
          </a:p>
          <a:p>
            <a:pPr>
              <a:spcBef>
                <a:spcPts val="400"/>
              </a:spcBef>
              <a:defRPr sz="1800"/>
            </a:pPr>
            <a:r>
              <a:t>  • 執行緒鎖定：防止並發選課問題</a:t>
            </a:r>
          </a:p>
          <a:p>
            <a:pPr>
              <a:spcBef>
                <a:spcPts val="400"/>
              </a:spcBef>
              <a:defRPr sz="1800"/>
            </a:pPr>
            <a:r>
              <a:t>  • 即時更新：選課後名額立即減少</a:t>
            </a:r>
          </a:p>
          <a:p>
            <a:pPr>
              <a:spcBef>
                <a:spcPts val="400"/>
              </a:spcBef>
              <a:defRPr sz="1800"/>
            </a:pPr>
            <a:r>
              <a:t>  • 釋放機制：退選後名額立即增加</a:t>
            </a:r>
          </a:p>
          <a:p>
            <a:pPr>
              <a:spcBef>
                <a:spcPts val="400"/>
              </a:spcBef>
              <a:defRPr sz="1800"/>
            </a:pPr>
            <a:r>
              <a:t>  • 防止超額：額滿課程拒絕選課</a:t>
            </a:r>
          </a:p>
          <a:p>
            <a:pPr>
              <a:spcBef>
                <a:spcPts val="400"/>
              </a:spcBef>
              <a:defRPr sz="1800"/>
            </a:pPr>
            <a:r>
              <a:t>  • 防止重複：使用 Set 儲存選課清單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資料儲存與安全設計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資料儲存方式</a:t>
            </a:r>
          </a:p>
          <a:p>
            <a:pPr>
              <a:spcBef>
                <a:spcPts val="400"/>
              </a:spcBef>
              <a:defRPr sz="1800"/>
            </a:pPr>
            <a:r>
              <a:t>  • 記憶體儲存：Python 字典 (Dict) 與集合 (Set)</a:t>
            </a:r>
          </a:p>
          <a:p>
            <a:pPr>
              <a:spcBef>
                <a:spcPts val="400"/>
              </a:spcBef>
              <a:defRPr sz="1800"/>
            </a:pPr>
            <a:r>
              <a:t>  • 課程目錄：course_id -&gt; Course 物件</a:t>
            </a:r>
          </a:p>
          <a:p>
            <a:pPr>
              <a:spcBef>
                <a:spcPts val="400"/>
              </a:spcBef>
              <a:defRPr sz="1800"/>
            </a:pPr>
            <a:r>
              <a:t>  • 選課清單：user_id -&gt; Set[course_id]</a:t>
            </a:r>
          </a:p>
          <a:p>
            <a:pPr>
              <a:spcBef>
                <a:spcPts val="400"/>
              </a:spcBef>
              <a:defRPr sz="1800"/>
            </a:pPr>
            <a:r>
              <a:t>  • 檔案式 Session：使用者識別（sessions/ 目錄）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系統限制</a:t>
            </a:r>
          </a:p>
          <a:p>
            <a:pPr>
              <a:spcBef>
                <a:spcPts val="400"/>
              </a:spcBef>
              <a:defRPr sz="1800"/>
            </a:pPr>
            <a:r>
              <a:t>  • 伺服器重啟後資料重置為初始狀態</a:t>
            </a:r>
          </a:p>
          <a:p>
            <a:pPr>
              <a:spcBef>
                <a:spcPts val="400"/>
              </a:spcBef>
              <a:defRPr sz="1800"/>
            </a:pPr>
            <a:r>
              <a:t>  • 無法跨程序共用記憶體</a:t>
            </a:r>
          </a:p>
          <a:p>
            <a:pPr>
              <a:spcBef>
                <a:spcPts val="400"/>
              </a:spcBef>
              <a:defRPr sz="1800"/>
            </a:pPr>
            <a:r>
              <a:t>  • 單程序執行限制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安全設計</a:t>
            </a:r>
          </a:p>
          <a:p>
            <a:pPr>
              <a:spcBef>
                <a:spcPts val="400"/>
              </a:spcBef>
              <a:defRPr sz="1800"/>
            </a:pPr>
            <a:r>
              <a:t>  • .env 未納入版本控制</a:t>
            </a:r>
          </a:p>
          <a:p>
            <a:pPr>
              <a:spcBef>
                <a:spcPts val="400"/>
              </a:spcBef>
              <a:defRPr sz="1800"/>
            </a:pPr>
            <a:r>
              <a:t>  • SECRET_KEY 從環境變數讀取</a:t>
            </a:r>
          </a:p>
          <a:p>
            <a:pPr>
              <a:spcBef>
                <a:spcPts val="400"/>
              </a:spcBef>
              <a:defRPr sz="1800"/>
            </a:pPr>
            <a:r>
              <a:t>  • CSRF 防護啟用</a:t>
            </a:r>
          </a:p>
          <a:p>
            <a:pPr>
              <a:spcBef>
                <a:spcPts val="400"/>
              </a:spcBef>
              <a:defRPr sz="1800"/>
            </a:pPr>
            <a:r>
              <a:t>  • 所有 POST 請求使用 CSRF 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本機執行方式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環境需求</a:t>
            </a:r>
          </a:p>
          <a:p>
            <a:pPr>
              <a:spcBef>
                <a:spcPts val="400"/>
              </a:spcBef>
              <a:defRPr sz="1800"/>
            </a:pPr>
            <a:r>
              <a:t>  • Windows 10/11</a:t>
            </a:r>
          </a:p>
          <a:p>
            <a:pPr>
              <a:spcBef>
                <a:spcPts val="400"/>
              </a:spcBef>
              <a:defRPr sz="1800"/>
            </a:pPr>
            <a:r>
              <a:t>  • Python 3.12 或以上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安裝步驟</a:t>
            </a:r>
          </a:p>
          <a:p>
            <a:pPr>
              <a:spcBef>
                <a:spcPts val="400"/>
              </a:spcBef>
              <a:defRPr sz="1800"/>
            </a:pPr>
            <a:r>
              <a:t>  1. Clone 專案：git clone [repository-url]</a:t>
            </a:r>
          </a:p>
          <a:p>
            <a:pPr>
              <a:spcBef>
                <a:spcPts val="400"/>
              </a:spcBef>
              <a:defRPr sz="1800"/>
            </a:pPr>
            <a:r>
              <a:t>  2. 建立虛擬環境：python -m venv .venv</a:t>
            </a:r>
          </a:p>
          <a:p>
            <a:pPr>
              <a:spcBef>
                <a:spcPts val="400"/>
              </a:spcBef>
              <a:defRPr sz="1800"/>
            </a:pPr>
            <a:r>
              <a:t>  3. 啟動虛擬環境：.venv\Scripts\Activate.ps1</a:t>
            </a:r>
          </a:p>
          <a:p>
            <a:pPr>
              <a:spcBef>
                <a:spcPts val="400"/>
              </a:spcBef>
              <a:defRPr sz="1800"/>
            </a:pPr>
            <a:r>
              <a:t>  4. 安裝依賴：pip install -r requirements.txt</a:t>
            </a:r>
          </a:p>
          <a:p>
            <a:pPr>
              <a:spcBef>
                <a:spcPts val="400"/>
              </a:spcBef>
              <a:defRPr sz="1800"/>
            </a:pPr>
            <a:r>
              <a:t>  5. 建立 .env：copy .env.example .env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啟動方式</a:t>
            </a:r>
          </a:p>
          <a:p>
            <a:pPr>
              <a:spcBef>
                <a:spcPts val="400"/>
              </a:spcBef>
              <a:defRPr sz="1800"/>
            </a:pPr>
            <a:r>
              <a:t>  • 使用啟動腳本：.\start.ps1 或 start.bat</a:t>
            </a:r>
          </a:p>
          <a:p>
            <a:pPr>
              <a:spcBef>
                <a:spcPts val="400"/>
              </a:spcBef>
              <a:defRPr sz="1800"/>
            </a:pPr>
            <a:r>
              <a:t>  • 手動啟動：python manage.py runserver 127.0.0.1:8000</a:t>
            </a:r>
          </a:p>
          <a:p>
            <a:pPr>
              <a:spcBef>
                <a:spcPts val="400"/>
              </a:spcBef>
              <a:defRPr sz="1800"/>
            </a:pPr>
            <a:r>
              <a:t>  • 訪問系統：http://127.0.0.1:8000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專題總結與未來擴充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專題總結</a:t>
            </a:r>
          </a:p>
          <a:p>
            <a:pPr>
              <a:spcBef>
                <a:spcPts val="400"/>
              </a:spcBef>
              <a:defRPr sz="1800"/>
            </a:pPr>
            <a:r>
              <a:t>  ✓ 成功實作完整的課表維護功能</a:t>
            </a:r>
          </a:p>
          <a:p>
            <a:pPr>
              <a:spcBef>
                <a:spcPts val="400"/>
              </a:spcBef>
              <a:defRPr sz="1800"/>
            </a:pPr>
            <a:r>
              <a:t>  ✓ 精確的選課規則與衝突檢查</a:t>
            </a:r>
          </a:p>
          <a:p>
            <a:pPr>
              <a:spcBef>
                <a:spcPts val="400"/>
              </a:spcBef>
              <a:defRPr sz="1800"/>
            </a:pPr>
            <a:r>
              <a:t>  ✓ 正確的名額管理機制</a:t>
            </a:r>
          </a:p>
          <a:p>
            <a:pPr>
              <a:spcBef>
                <a:spcPts val="400"/>
              </a:spcBef>
              <a:defRPr sz="1800"/>
            </a:pPr>
            <a:r>
              <a:t>  ✓ 清楚的系統架構與程式碼</a:t>
            </a:r>
          </a:p>
          <a:p>
            <a:pPr>
              <a:spcBef>
                <a:spcPts val="400"/>
              </a:spcBef>
              <a:defRPr sz="1800"/>
            </a:pPr>
            <a:r>
              <a:t>  ✓ 適合課堂展示與教學</a:t>
            </a:r>
          </a:p>
          <a:p>
            <a:pPr>
              <a:spcBef>
                <a:spcPts val="400"/>
              </a:spcBef>
              <a:defRPr sz="1800"/>
            </a:pPr>
          </a:p>
          <a:p>
            <a:pPr>
              <a:spcBef>
                <a:spcPts val="1200"/>
              </a:spcBef>
              <a:defRPr sz="1800" b="1"/>
            </a:pPr>
            <a:r>
              <a:t>未來擴充方向</a:t>
            </a:r>
          </a:p>
          <a:p>
            <a:pPr>
              <a:spcBef>
                <a:spcPts val="400"/>
              </a:spcBef>
              <a:defRPr sz="1800"/>
            </a:pPr>
            <a:r>
              <a:t>  • 加入資料庫實現資料持久化</a:t>
            </a:r>
          </a:p>
          <a:p>
            <a:pPr>
              <a:spcBef>
                <a:spcPts val="400"/>
              </a:spcBef>
              <a:defRPr sz="1800"/>
            </a:pPr>
            <a:r>
              <a:t>  • 實作使用者註冊與登入</a:t>
            </a:r>
          </a:p>
          <a:p>
            <a:pPr>
              <a:spcBef>
                <a:spcPts val="400"/>
              </a:spcBef>
              <a:defRPr sz="1800"/>
            </a:pPr>
            <a:r>
              <a:t>  • 新增學分上限與先修課程限制</a:t>
            </a:r>
          </a:p>
          <a:p>
            <a:pPr>
              <a:spcBef>
                <a:spcPts val="400"/>
              </a:spcBef>
              <a:defRPr sz="1800"/>
            </a:pPr>
            <a:r>
              <a:t>  • 加入 Email 通知功能</a:t>
            </a:r>
          </a:p>
          <a:p>
            <a:pPr>
              <a:spcBef>
                <a:spcPts val="400"/>
              </a:spcBef>
              <a:defRPr sz="1800"/>
            </a:pPr>
            <a:r>
              <a:t>  • 實作課程評價系統</a:t>
            </a:r>
          </a:p>
          <a:p>
            <a:pPr>
              <a:spcBef>
                <a:spcPts val="400"/>
              </a:spcBef>
              <a:defRPr sz="1800"/>
            </a:pPr>
            <a:r>
              <a:t>  • 提供 RESTful API 介面</a:t>
            </a:r>
          </a:p>
          <a:p>
            <a:pPr>
              <a:spcBef>
                <a:spcPts val="400"/>
              </a:spcBef>
              <a:defRPr sz="1800"/>
            </a:pPr>
            <a:r>
              <a:t>  • 支援課表匯出（PDF、iCal）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